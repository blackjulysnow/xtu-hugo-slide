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大家好，我是 Jack。今天我非常荣幸能和大家分享我们团队在计算药物发现领域的最新进展。我们的工作探讨了如何将底层的热力学第一性原理与多智能体（Multi-Agent）系统结合，提出了一种基于“能量知识图谱（EKG）”的全新世界模型。</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近年来，LLM Agent 在化学领域的应用非常火热。然而，现有的系统往往缺乏对分子物理世界的真正理解。它们在做决策时，无法像人类化学家那样权衡结合能、活化能和合成难度。这就导致了生成的分子要么合成不出来，要么一进入体内就被代谢掉。我们需要一个能真正理解“热力学”的底层架构。</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我们退一步思考问题的本质：结合与代谢，真的是两件毫不相干的事情吗？其实不然。它们都是分子进入蛋白质口袋的交互过程。结合追求的是深陷热力学势阱（极负的ΔG），而代谢则是分子在酶口袋中发生了化学键的断裂（涉及活化能ΔE_a和键解离能BDE）。如果我们能用一套能量语言统一它们，就能打破任务壁垒。</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为了实现这种统一，我们提出了本文的核心概念：能量知识图谱（EKG）。EKG不仅是一个异质图数据结构，更是我们Agent系统的“世界模型”。在这个图谱中，我们将靶点和代谢酶统一为大分子节点，并在它们与小分子之间建立了多尺度的“能量边”。</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让我们来看看图谱的微观设计。我们用binds_to边来表示非共价相互作用，附带自由能属性；用reacts_with边表示局部的化学反应倾向，附带BDE和活化能属性。这样，对于靶点，Agent追求binds_to边的能量极小化；对于代谢酶，Agent在发现binds_to边存在时，会极力通过反合成来抬高局部reacts_with边的能量壁垒（B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在这个图谱之上，我们构建了多智能体架构。其中最核心的是“Energy Core Agent”。它就像是一个指挥官，在EKG上进行全景游走。当它发现代谢风险时，不会简单地报错，而是精准定位到导致风险的微观局部结构，并将这些由能量边构成的“子图约束”交给执行层的Agent去解决。</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这是一个完整的机械性决策闭环。Agent首先进行宏观扫描，随后进行微观下钻，锁定脆弱的化学键。接着，它将精确的物理约束传递给Retrosynthesis Agent进行结构改造。改造后的结果会经过虚拟实验室验证，并将成功或失败的经验作为“Memory节点”写回EKG，形成系统的长期进化。</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让我们看一个具体的案例。系统获得了一个初始活性很好的分子，但 Core Agent 沿图谱游走时发现，分子上某个C-H键针对CYP3A4酶的BDE仅有85 kcal/mol，代谢风险极高。它立刻命令反合成Agent，在保持整体三维构象的前提下，将其替换为C-F键（BDE超过100 kcal/mol）。最终的分子完美兼顾了药效与稳定性。</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在实验评估部分，我们与现有的主流Agent框架进行了对比。结果表明，由于EKG提供了严谨的热力学约束，我们的系统不仅多目标优化的成功率显著提升，而且极大地减少了模型产生的“化学幻觉”。生成的分子更逼近帕累托最优前沿，并且都具有高可行的合成路线。</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总结一下，我们证明了能量知识图谱能够为AI Agent提供理解物理世界的“指南针”。通过统一热力学与动力学表征，我们构建了一个具备高度物理合理性的多智能体系统。未来，我们将引入更多维度的物理化学属性，进一步丰富这个“世界模型”。感谢大家的聆听！</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097280"/>
            <a:ext cx="10360152" cy="1828800"/>
          </a:xfrm>
          <a:prstGeom prst="rect">
            <a:avLst/>
          </a:prstGeom>
          <a:noFill/>
        </p:spPr>
        <p:txBody>
          <a:bodyPr wrap="square">
            <a:spAutoFit/>
          </a:bodyPr>
          <a:lstStyle/>
          <a:p>
            <a:pPr algn="ctr"/>
            <a:r>
              <a:rPr b="1" sz="3200">
                <a:solidFill>
                  <a:srgbClr val="003366"/>
                </a:solidFill>
              </a:rPr>
              <a:t>Energy Knowledge Graph as the World Model for Agentic Lead Optimization
(能量知识图谱作为智能体先导化合物优化的世界模型)</a:t>
            </a:r>
          </a:p>
        </p:txBody>
      </p:sp>
      <p:sp>
        <p:nvSpPr>
          <p:cNvPr id="3" name="TextBox 2"/>
          <p:cNvSpPr txBox="1"/>
          <p:nvPr/>
        </p:nvSpPr>
        <p:spPr>
          <a:xfrm>
            <a:off x="914400" y="2926080"/>
            <a:ext cx="10360152" cy="914400"/>
          </a:xfrm>
          <a:prstGeom prst="rect">
            <a:avLst/>
          </a:prstGeom>
          <a:noFill/>
        </p:spPr>
        <p:txBody>
          <a:bodyPr wrap="none">
            <a:spAutoFit/>
          </a:bodyPr>
          <a:lstStyle/>
          <a:p>
            <a:pPr algn="ctr"/>
            <a:r>
              <a:rPr i="1" sz="2200">
                <a:solidFill>
                  <a:srgbClr val="009999"/>
                </a:solidFill>
              </a:rPr>
              <a:t>热力学驱动的多智能体推理用于统一药物设计</a:t>
            </a:r>
          </a:p>
        </p:txBody>
      </p:sp>
      <p:sp>
        <p:nvSpPr>
          <p:cNvPr id="4" name="TextBox 3"/>
          <p:cNvSpPr txBox="1"/>
          <p:nvPr/>
        </p:nvSpPr>
        <p:spPr>
          <a:xfrm>
            <a:off x="2743200" y="3840480"/>
            <a:ext cx="6702552" cy="914400"/>
          </a:xfrm>
          <a:prstGeom prst="rect">
            <a:avLst/>
          </a:prstGeom>
          <a:noFill/>
        </p:spPr>
        <p:txBody>
          <a:bodyPr wrap="none">
            <a:spAutoFit/>
          </a:bodyPr>
          <a:lstStyle/>
          <a:p>
            <a:pPr algn="ctr"/>
            <a:r>
              <a:rPr sz="1800">
                <a:solidFill>
                  <a:srgbClr val="404040"/>
                </a:solidFill>
              </a:rPr>
              <a:t>汇报人: Jack</a:t>
            </a:r>
          </a:p>
          <a:p>
            <a:pPr algn="ctr"/>
            <a:r>
              <a:rPr sz="1800">
                <a:solidFill>
                  <a:srgbClr val="404040"/>
                </a:solidFill>
              </a:rPr>
              <a:t>目标会议: NeurIPS / ICML / Nature Methods</a:t>
            </a:r>
          </a:p>
        </p:txBody>
      </p:sp>
      <p:sp>
        <p:nvSpPr>
          <p:cNvPr id="5" name="Rounded Rectangle 4"/>
          <p:cNvSpPr/>
          <p:nvPr/>
        </p:nvSpPr>
        <p:spPr>
          <a:xfrm>
            <a:off x="2432304" y="5029200"/>
            <a:ext cx="7315200" cy="1097280"/>
          </a:xfrm>
          <a:prstGeom prst="roundRect">
            <a:avLst/>
          </a:prstGeom>
          <a:solidFill>
            <a:srgbClr val="F0F8FF"/>
          </a:solidFill>
          <a:ln>
            <a:solidFill>
              <a:srgbClr val="0099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a:solidFill>
                  <a:srgbClr val="404040"/>
                </a:solidFill>
              </a:rPr>
              <a:t>📷 Image Suggestion: 极简的几何线条背景，中心放置一个发光的“能量核心”图标，连接着三个代表Binding、Metabolism和Retrosynthesis的节点。</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365760"/>
            <a:ext cx="11274552" cy="914400"/>
          </a:xfrm>
        </p:spPr>
        <p:txBody>
          <a:bodyPr/>
          <a:lstStyle/>
          <a:p>
            <a:r>
              <a:rPr b="1" sz="3200">
                <a:solidFill>
                  <a:srgbClr val="003366"/>
                </a:solidFill>
              </a:rPr>
              <a:t>当前大语言模型在药物设计中的“认知盲区”</a:t>
            </a:r>
          </a:p>
        </p:txBody>
      </p:sp>
      <p:sp>
        <p:nvSpPr>
          <p:cNvPr id="3" name="TextBox 2"/>
          <p:cNvSpPr txBox="1"/>
          <p:nvPr/>
        </p:nvSpPr>
        <p:spPr>
          <a:xfrm>
            <a:off x="457200" y="1463040"/>
            <a:ext cx="6858000" cy="4754880"/>
          </a:xfrm>
          <a:prstGeom prst="rect">
            <a:avLst/>
          </a:prstGeom>
          <a:noFill/>
        </p:spPr>
        <p:txBody>
          <a:bodyPr wrap="square">
            <a:spAutoFit/>
          </a:bodyPr>
          <a:lstStyle/>
          <a:p>
            <a:pPr>
              <a:spcAft>
                <a:spcPts val="1500"/>
              </a:spcAft>
            </a:pPr>
            <a:r>
              <a:rPr b="1" sz="2000">
                <a:solidFill>
                  <a:srgbClr val="003366"/>
                </a:solidFill>
                <a:latin typeface="Calibri"/>
              </a:rPr>
              <a:t>• AI驱动药物设计的崛起：</a:t>
            </a:r>
            <a:r>
              <a:rPr sz="2000">
                <a:solidFill>
                  <a:srgbClr val="404040"/>
                </a:solidFill>
                <a:latin typeface="Calibri"/>
              </a:rPr>
              <a:t>LLM Agents 在化学推理中展现潜力。</a:t>
            </a:r>
          </a:p>
          <a:p>
            <a:pPr>
              <a:spcAft>
                <a:spcPts val="1500"/>
              </a:spcAft>
            </a:pPr>
            <a:r>
              <a:rPr b="1" sz="2000">
                <a:solidFill>
                  <a:srgbClr val="003366"/>
                </a:solidFill>
                <a:latin typeface="Calibri"/>
              </a:rPr>
              <a:t>• 现有痛点 1：</a:t>
            </a:r>
            <a:r>
              <a:rPr sz="2000">
                <a:solidFill>
                  <a:srgbClr val="404040"/>
                </a:solidFill>
                <a:latin typeface="Calibri"/>
              </a:rPr>
              <a:t>缺乏机械性理解 (Mechanistic Understanding)。Agent往往如同“黑盒”，依赖纯文本匹配或规则，缺乏对底层物理化学法则的感知。</a:t>
            </a:r>
          </a:p>
          <a:p>
            <a:pPr>
              <a:spcAft>
                <a:spcPts val="1500"/>
              </a:spcAft>
            </a:pPr>
            <a:r>
              <a:rPr b="1" sz="2000">
                <a:solidFill>
                  <a:srgbClr val="003366"/>
                </a:solidFill>
                <a:latin typeface="Calibri"/>
              </a:rPr>
              <a:t>• 现有痛点 2：</a:t>
            </a:r>
            <a:r>
              <a:rPr sz="2000">
                <a:solidFill>
                  <a:srgbClr val="404040"/>
                </a:solidFill>
                <a:latin typeface="Calibri"/>
              </a:rPr>
              <a:t>任务割裂。靶点结合 (Binding)、代谢 (Metabolism) 和合成 (Retrosynthesis) 通常被孤立处理，导致系统极易陷入局部最优。</a:t>
            </a:r>
          </a:p>
        </p:txBody>
      </p:sp>
      <p:sp>
        <p:nvSpPr>
          <p:cNvPr id="4" name="Rounded Rectangle 3"/>
          <p:cNvSpPr/>
          <p:nvPr/>
        </p:nvSpPr>
        <p:spPr>
          <a:xfrm>
            <a:off x="7772400" y="1463040"/>
            <a:ext cx="3959352" cy="4754880"/>
          </a:xfrm>
          <a:prstGeom prst="roundRect">
            <a:avLst/>
          </a:prstGeom>
          <a:solidFill>
            <a:srgbClr val="F0F8FF"/>
          </a:solidFill>
          <a:ln w="25400">
            <a:solidFill>
              <a:srgbClr val="0099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800">
                <a:solidFill>
                  <a:srgbClr val="009999"/>
                </a:solidFill>
              </a:rPr>
              <a:t>📷 Image Suggestion
</a:t>
            </a:r>
          </a:p>
          <a:p>
            <a:pPr algn="ctr">
              <a:spcBef>
                <a:spcPts val="1000"/>
              </a:spcBef>
            </a:pPr>
            <a:r>
              <a:rPr sz="1400">
                <a:solidFill>
                  <a:srgbClr val="404040"/>
                </a:solidFill>
              </a:rPr>
              <a:t>左右对比图。左边是传统的断裂的单任务模型（打叉），右边是紧密咬合的三个齿轮（Binding, Metabolism, Retrosynthesis），暗示需要统一。</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365760"/>
            <a:ext cx="11274552" cy="914400"/>
          </a:xfrm>
        </p:spPr>
        <p:txBody>
          <a:bodyPr/>
          <a:lstStyle/>
          <a:p>
            <a:r>
              <a:rPr b="1" sz="3200">
                <a:solidFill>
                  <a:srgbClr val="003366"/>
                </a:solidFill>
              </a:rPr>
              <a:t>Navigating the Efficacy-Liability Continuum</a:t>
            </a:r>
          </a:p>
        </p:txBody>
      </p:sp>
      <p:sp>
        <p:nvSpPr>
          <p:cNvPr id="3" name="TextBox 2"/>
          <p:cNvSpPr txBox="1"/>
          <p:nvPr/>
        </p:nvSpPr>
        <p:spPr>
          <a:xfrm>
            <a:off x="457200" y="1463040"/>
            <a:ext cx="6858000" cy="4754880"/>
          </a:xfrm>
          <a:prstGeom prst="rect">
            <a:avLst/>
          </a:prstGeom>
          <a:noFill/>
        </p:spPr>
        <p:txBody>
          <a:bodyPr wrap="square">
            <a:spAutoFit/>
          </a:bodyPr>
          <a:lstStyle/>
          <a:p>
            <a:pPr>
              <a:spcAft>
                <a:spcPts val="1500"/>
              </a:spcAft>
            </a:pPr>
            <a:r>
              <a:rPr b="1" sz="2000">
                <a:solidFill>
                  <a:srgbClr val="003366"/>
                </a:solidFill>
                <a:latin typeface="Calibri"/>
              </a:rPr>
              <a:t>• 核心矛盾：</a:t>
            </a:r>
            <a:r>
              <a:rPr sz="2000">
                <a:solidFill>
                  <a:srgbClr val="404040"/>
                </a:solidFill>
                <a:latin typeface="Calibri"/>
              </a:rPr>
              <a:t>我们不仅要提高靶点亲和力 (Efficacy)，还要降低代谢负债 (Liability)。</a:t>
            </a:r>
          </a:p>
          <a:p>
            <a:pPr>
              <a:spcAft>
                <a:spcPts val="1500"/>
              </a:spcAft>
            </a:pPr>
            <a:r>
              <a:rPr b="1" sz="2000">
                <a:solidFill>
                  <a:srgbClr val="003366"/>
                </a:solidFill>
                <a:latin typeface="Calibri"/>
              </a:rPr>
              <a:t>• 物理本质：</a:t>
            </a:r>
            <a:r>
              <a:rPr sz="2000">
                <a:solidFill>
                  <a:srgbClr val="404040"/>
                </a:solidFill>
                <a:latin typeface="Calibri"/>
              </a:rPr>
              <a:t>这两个过程在底层上都是分子与大分子的相互作用，只是所处的“热力学与动力学阶段”不同。</a:t>
            </a:r>
          </a:p>
          <a:p>
            <a:pPr>
              <a:spcAft>
                <a:spcPts val="1500"/>
              </a:spcAft>
            </a:pPr>
            <a:r>
              <a:rPr b="1" sz="2000">
                <a:solidFill>
                  <a:srgbClr val="003366"/>
                </a:solidFill>
                <a:latin typeface="Calibri"/>
              </a:rPr>
              <a:t>• Binding = </a:t>
            </a:r>
            <a:r>
              <a:rPr sz="2000">
                <a:solidFill>
                  <a:srgbClr val="404040"/>
                </a:solidFill>
                <a:latin typeface="Calibri"/>
              </a:rPr>
              <a:t>热力学平衡过程 (ΔG_bind)</a:t>
            </a:r>
          </a:p>
          <a:p>
            <a:pPr>
              <a:spcAft>
                <a:spcPts val="1500"/>
              </a:spcAft>
            </a:pPr>
            <a:r>
              <a:rPr b="1" sz="2000">
                <a:solidFill>
                  <a:srgbClr val="003366"/>
                </a:solidFill>
                <a:latin typeface="Calibri"/>
              </a:rPr>
              <a:t>• Metabolism = </a:t>
            </a:r>
            <a:r>
              <a:rPr sz="2000">
                <a:solidFill>
                  <a:srgbClr val="404040"/>
                </a:solidFill>
                <a:latin typeface="Calibri"/>
              </a:rPr>
              <a:t>动力学与热力学耦合过程 (ΔE_a, BDE)</a:t>
            </a:r>
          </a:p>
        </p:txBody>
      </p:sp>
      <p:sp>
        <p:nvSpPr>
          <p:cNvPr id="4" name="Rounded Rectangle 3"/>
          <p:cNvSpPr/>
          <p:nvPr/>
        </p:nvSpPr>
        <p:spPr>
          <a:xfrm>
            <a:off x="7772400" y="1463040"/>
            <a:ext cx="3959352" cy="4754880"/>
          </a:xfrm>
          <a:prstGeom prst="roundRect">
            <a:avLst/>
          </a:prstGeom>
          <a:solidFill>
            <a:srgbClr val="F0F8FF"/>
          </a:solidFill>
          <a:ln w="25400">
            <a:solidFill>
              <a:srgbClr val="0099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800">
                <a:solidFill>
                  <a:srgbClr val="009999"/>
                </a:solidFill>
              </a:rPr>
              <a:t>📷 Image Suggestion
</a:t>
            </a:r>
          </a:p>
          <a:p>
            <a:pPr algn="ctr">
              <a:spcBef>
                <a:spcPts val="1000"/>
              </a:spcBef>
            </a:pPr>
            <a:r>
              <a:rPr sz="1400">
                <a:solidFill>
                  <a:srgbClr val="404040"/>
                </a:solidFill>
              </a:rPr>
              <a:t>能量反应坐标图。展示分子进入口袋的自由能下降趋势，以及随后发生代谢反应需要跨越的能垒。</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365760"/>
            <a:ext cx="11274552" cy="914400"/>
          </a:xfrm>
        </p:spPr>
        <p:txBody>
          <a:bodyPr/>
          <a:lstStyle/>
          <a:p>
            <a:r>
              <a:rPr b="1" sz="3200">
                <a:solidFill>
                  <a:srgbClr val="003366"/>
                </a:solidFill>
              </a:rPr>
              <a:t>EKG：多智能体的“世界认知模型”</a:t>
            </a:r>
          </a:p>
        </p:txBody>
      </p:sp>
      <p:sp>
        <p:nvSpPr>
          <p:cNvPr id="3" name="TextBox 2"/>
          <p:cNvSpPr txBox="1"/>
          <p:nvPr/>
        </p:nvSpPr>
        <p:spPr>
          <a:xfrm>
            <a:off x="457200" y="1463040"/>
            <a:ext cx="6858000" cy="4754880"/>
          </a:xfrm>
          <a:prstGeom prst="rect">
            <a:avLst/>
          </a:prstGeom>
          <a:noFill/>
        </p:spPr>
        <p:txBody>
          <a:bodyPr wrap="square">
            <a:spAutoFit/>
          </a:bodyPr>
          <a:lstStyle/>
          <a:p>
            <a:pPr>
              <a:spcAft>
                <a:spcPts val="1500"/>
              </a:spcAft>
            </a:pPr>
            <a:r>
              <a:rPr sz="2000">
                <a:solidFill>
                  <a:srgbClr val="404040"/>
                </a:solidFill>
                <a:latin typeface="Calibri"/>
              </a:rPr>
              <a:t>• 将传统的数据异质图升级为具有物理语义的知识图谱。</a:t>
            </a:r>
          </a:p>
          <a:p>
            <a:pPr>
              <a:spcAft>
                <a:spcPts val="1500"/>
              </a:spcAft>
            </a:pPr>
            <a:r>
              <a:rPr b="1" sz="2000">
                <a:solidFill>
                  <a:srgbClr val="003366"/>
                </a:solidFill>
                <a:latin typeface="Calibri"/>
              </a:rPr>
              <a:t>• 节点层级抽象：</a:t>
            </a:r>
            <a:r>
              <a:rPr sz="2000">
                <a:solidFill>
                  <a:srgbClr val="404040"/>
                </a:solidFill>
                <a:latin typeface="Calibri"/>
              </a:rPr>
              <a:t>统一了 Target Protein 和 Metabolic Enzyme。</a:t>
            </a:r>
          </a:p>
          <a:p>
            <a:pPr>
              <a:spcAft>
                <a:spcPts val="1500"/>
              </a:spcAft>
            </a:pPr>
            <a:r>
              <a:rPr b="1" sz="2000">
                <a:solidFill>
                  <a:srgbClr val="003366"/>
                </a:solidFill>
                <a:latin typeface="Calibri"/>
              </a:rPr>
              <a:t>• 多尺度能量边：</a:t>
            </a:r>
            <a:r>
              <a:rPr sz="2000">
                <a:solidFill>
                  <a:srgbClr val="404040"/>
                </a:solidFill>
                <a:latin typeface="Calibri"/>
              </a:rPr>
              <a:t>摒弃简单的二元关系，引入具有热力学属性的能量边。</a:t>
            </a:r>
          </a:p>
          <a:p>
            <a:pPr>
              <a:spcAft>
                <a:spcPts val="1500"/>
              </a:spcAft>
            </a:pPr>
            <a:r>
              <a:rPr sz="2000">
                <a:solidFill>
                  <a:srgbClr val="404040"/>
                </a:solidFill>
                <a:latin typeface="Calibri"/>
              </a:rPr>
              <a:t>• EKG不再仅仅是数据库，而是 Agent 感知、记忆和决策的动态环境。</a:t>
            </a:r>
          </a:p>
        </p:txBody>
      </p:sp>
      <p:sp>
        <p:nvSpPr>
          <p:cNvPr id="4" name="Rounded Rectangle 3"/>
          <p:cNvSpPr/>
          <p:nvPr/>
        </p:nvSpPr>
        <p:spPr>
          <a:xfrm>
            <a:off x="7772400" y="1463040"/>
            <a:ext cx="3959352" cy="4754880"/>
          </a:xfrm>
          <a:prstGeom prst="roundRect">
            <a:avLst/>
          </a:prstGeom>
          <a:solidFill>
            <a:srgbClr val="F0F8FF"/>
          </a:solidFill>
          <a:ln w="25400">
            <a:solidFill>
              <a:srgbClr val="0099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800">
                <a:solidFill>
                  <a:srgbClr val="009999"/>
                </a:solidFill>
              </a:rPr>
              <a:t>📷 Image Suggestion
</a:t>
            </a:r>
          </a:p>
          <a:p>
            <a:pPr algn="ctr">
              <a:spcBef>
                <a:spcPts val="1000"/>
              </a:spcBef>
            </a:pPr>
            <a:r>
              <a:rPr sz="1400">
                <a:solidFill>
                  <a:srgbClr val="404040"/>
                </a:solidFill>
              </a:rPr>
              <a:t>展示宏观架构的混合图层（Layer 1）。中心是异质图结构，标注出不同形状的节点（Molecule, Protein, Local Chemistry）和边。</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365760"/>
            <a:ext cx="11274552" cy="914400"/>
          </a:xfrm>
        </p:spPr>
        <p:txBody>
          <a:bodyPr/>
          <a:lstStyle/>
          <a:p>
            <a:r>
              <a:rPr b="1" sz="3200">
                <a:solidFill>
                  <a:srgbClr val="003366"/>
                </a:solidFill>
              </a:rPr>
              <a:t>统一“结合”与“代谢”的图表示</a:t>
            </a:r>
          </a:p>
        </p:txBody>
      </p:sp>
      <p:sp>
        <p:nvSpPr>
          <p:cNvPr id="3" name="TextBox 2"/>
          <p:cNvSpPr txBox="1"/>
          <p:nvPr/>
        </p:nvSpPr>
        <p:spPr>
          <a:xfrm>
            <a:off x="457200" y="1463040"/>
            <a:ext cx="6858000" cy="4754880"/>
          </a:xfrm>
          <a:prstGeom prst="rect">
            <a:avLst/>
          </a:prstGeom>
          <a:noFill/>
        </p:spPr>
        <p:txBody>
          <a:bodyPr wrap="square">
            <a:spAutoFit/>
          </a:bodyPr>
          <a:lstStyle/>
          <a:p>
            <a:pPr>
              <a:spcAft>
                <a:spcPts val="1500"/>
              </a:spcAft>
            </a:pPr>
            <a:r>
              <a:rPr b="1" sz="2000">
                <a:solidFill>
                  <a:srgbClr val="003366"/>
                </a:solidFill>
                <a:latin typeface="Calibri"/>
              </a:rPr>
              <a:t>• 非共价边 (Meso-scale): </a:t>
            </a:r>
            <a:r>
              <a:rPr sz="2000">
                <a:solidFill>
                  <a:srgbClr val="404040"/>
                </a:solidFill>
                <a:latin typeface="Calibri"/>
              </a:rPr>
              <a:t>binds_to 承载 ΔG_bind，目标是优化亲和力。</a:t>
            </a:r>
          </a:p>
          <a:p>
            <a:pPr>
              <a:spcAft>
                <a:spcPts val="1500"/>
              </a:spcAft>
            </a:pPr>
            <a:r>
              <a:rPr b="1" sz="2000">
                <a:solidFill>
                  <a:srgbClr val="003366"/>
                </a:solidFill>
                <a:latin typeface="Calibri"/>
              </a:rPr>
              <a:t>• 共价/反应边 (Micro-scale): </a:t>
            </a:r>
            <a:r>
              <a:rPr sz="2000">
                <a:solidFill>
                  <a:srgbClr val="404040"/>
                </a:solidFill>
                <a:latin typeface="Calibri"/>
              </a:rPr>
              <a:t>reacts_with 承载 BDE (键解离能) 和 ΔE_a (活化能)。</a:t>
            </a:r>
          </a:p>
          <a:p>
            <a:pPr>
              <a:spcAft>
                <a:spcPts val="1500"/>
              </a:spcAft>
            </a:pPr>
            <a:r>
              <a:rPr b="1" sz="2000">
                <a:solidFill>
                  <a:srgbClr val="003366"/>
                </a:solidFill>
                <a:latin typeface="Calibri"/>
              </a:rPr>
              <a:t>• 优势：</a:t>
            </a:r>
            <a:r>
              <a:rPr sz="2000">
                <a:solidFill>
                  <a:srgbClr val="404040"/>
                </a:solidFill>
                <a:latin typeface="Calibri"/>
              </a:rPr>
              <a:t>无论是评估靶点药效还是规避代谢酶降解，Agent都在解同一个多目标的数学优化题。</a:t>
            </a:r>
          </a:p>
        </p:txBody>
      </p:sp>
      <p:sp>
        <p:nvSpPr>
          <p:cNvPr id="4" name="Rounded Rectangle 3"/>
          <p:cNvSpPr/>
          <p:nvPr/>
        </p:nvSpPr>
        <p:spPr>
          <a:xfrm>
            <a:off x="7772400" y="1463040"/>
            <a:ext cx="3959352" cy="4754880"/>
          </a:xfrm>
          <a:prstGeom prst="roundRect">
            <a:avLst/>
          </a:prstGeom>
          <a:solidFill>
            <a:srgbClr val="F0F8FF"/>
          </a:solidFill>
          <a:ln w="25400">
            <a:solidFill>
              <a:srgbClr val="0099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800">
                <a:solidFill>
                  <a:srgbClr val="009999"/>
                </a:solidFill>
              </a:rPr>
              <a:t>📷 Image Suggestion
</a:t>
            </a:r>
          </a:p>
          <a:p>
            <a:pPr algn="ctr">
              <a:spcBef>
                <a:spcPts val="1000"/>
              </a:spcBef>
            </a:pPr>
            <a:r>
              <a:rPr sz="1400">
                <a:solidFill>
                  <a:srgbClr val="404040"/>
                </a:solidFill>
              </a:rPr>
              <a:t>局部放大图对比。左边是分子与Target的ΔG连线；右边是分子的C-H键（Local Chemistry节点）与CYP酶的催化中心之间的BDE/ΔE_a连线。</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365760"/>
            <a:ext cx="11274552" cy="914400"/>
          </a:xfrm>
        </p:spPr>
        <p:txBody>
          <a:bodyPr/>
          <a:lstStyle/>
          <a:p>
            <a:r>
              <a:rPr b="1" sz="3200">
                <a:solidFill>
                  <a:srgbClr val="003366"/>
                </a:solidFill>
              </a:rPr>
              <a:t>Energy Core Agent 与多智能体编排</a:t>
            </a:r>
          </a:p>
        </p:txBody>
      </p:sp>
      <p:sp>
        <p:nvSpPr>
          <p:cNvPr id="3" name="TextBox 2"/>
          <p:cNvSpPr txBox="1"/>
          <p:nvPr/>
        </p:nvSpPr>
        <p:spPr>
          <a:xfrm>
            <a:off x="457200" y="1463040"/>
            <a:ext cx="6858000" cy="4754880"/>
          </a:xfrm>
          <a:prstGeom prst="rect">
            <a:avLst/>
          </a:prstGeom>
          <a:noFill/>
        </p:spPr>
        <p:txBody>
          <a:bodyPr wrap="square">
            <a:spAutoFit/>
          </a:bodyPr>
          <a:lstStyle/>
          <a:p>
            <a:pPr>
              <a:spcAft>
                <a:spcPts val="1500"/>
              </a:spcAft>
            </a:pPr>
            <a:r>
              <a:rPr b="1" sz="2000">
                <a:solidFill>
                  <a:srgbClr val="003366"/>
                </a:solidFill>
                <a:latin typeface="Calibri"/>
              </a:rPr>
              <a:t>• Energy Core Agent: </a:t>
            </a:r>
            <a:r>
              <a:rPr sz="2000">
                <a:solidFill>
                  <a:srgbClr val="404040"/>
                </a:solidFill>
                <a:latin typeface="Calibri"/>
              </a:rPr>
              <a:t>系统的大脑，拥有对EKG的全局读写权限，负责全局能量惩罚函数的优化。</a:t>
            </a:r>
          </a:p>
          <a:p>
            <a:pPr>
              <a:spcAft>
                <a:spcPts val="1500"/>
              </a:spcAft>
            </a:pPr>
            <a:r>
              <a:rPr b="1" sz="2000">
                <a:solidFill>
                  <a:srgbClr val="003366"/>
                </a:solidFill>
                <a:latin typeface="Calibri"/>
              </a:rPr>
              <a:t>• 执行层 Agents: </a:t>
            </a:r>
            <a:r>
              <a:rPr sz="2000">
                <a:solidFill>
                  <a:srgbClr val="404040"/>
                </a:solidFill>
                <a:latin typeface="Calibri"/>
              </a:rPr>
              <a:t>Binding Agent, Metabolism Agent, Retrosynthesis Agent。</a:t>
            </a:r>
          </a:p>
          <a:p>
            <a:pPr>
              <a:spcAft>
                <a:spcPts val="1500"/>
              </a:spcAft>
            </a:pPr>
            <a:r>
              <a:rPr b="1" sz="2000">
                <a:solidFill>
                  <a:srgbClr val="003366"/>
                </a:solidFill>
                <a:latin typeface="Calibri"/>
              </a:rPr>
              <a:t>• 工作机制：</a:t>
            </a:r>
            <a:r>
              <a:rPr sz="2000">
                <a:solidFill>
                  <a:srgbClr val="404040"/>
                </a:solidFill>
                <a:latin typeface="Calibri"/>
              </a:rPr>
              <a:t>Core Agent 在图上进行游走与多跳推理，将“痛点”转化为子图约束，下发给执行层。</a:t>
            </a:r>
          </a:p>
        </p:txBody>
      </p:sp>
      <p:sp>
        <p:nvSpPr>
          <p:cNvPr id="4" name="Rounded Rectangle 3"/>
          <p:cNvSpPr/>
          <p:nvPr/>
        </p:nvSpPr>
        <p:spPr>
          <a:xfrm>
            <a:off x="7772400" y="1463040"/>
            <a:ext cx="3959352" cy="4754880"/>
          </a:xfrm>
          <a:prstGeom prst="roundRect">
            <a:avLst/>
          </a:prstGeom>
          <a:solidFill>
            <a:srgbClr val="F0F8FF"/>
          </a:solidFill>
          <a:ln w="25400">
            <a:solidFill>
              <a:srgbClr val="0099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800">
                <a:solidFill>
                  <a:srgbClr val="009999"/>
                </a:solidFill>
              </a:rPr>
              <a:t>📷 Image Suggestion
</a:t>
            </a:r>
          </a:p>
          <a:p>
            <a:pPr algn="ctr">
              <a:spcBef>
                <a:spcPts val="1000"/>
              </a:spcBef>
            </a:pPr>
            <a:r>
              <a:rPr sz="1400">
                <a:solidFill>
                  <a:srgbClr val="404040"/>
                </a:solidFill>
              </a:rPr>
              <a:t>层次化的Agent架构图。最上方是Energy Core Agent俯瞰全图，下方三个特定任务的Agent通过工具（Tools/Evidences）更新图谱。</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365760"/>
            <a:ext cx="11274552" cy="914400"/>
          </a:xfrm>
        </p:spPr>
        <p:txBody>
          <a:bodyPr/>
          <a:lstStyle/>
          <a:p>
            <a:r>
              <a:rPr b="1" sz="3200">
                <a:solidFill>
                  <a:srgbClr val="003366"/>
                </a:solidFill>
              </a:rPr>
              <a:t>从宏观评估到微观重构</a:t>
            </a:r>
          </a:p>
        </p:txBody>
      </p:sp>
      <p:sp>
        <p:nvSpPr>
          <p:cNvPr id="3" name="TextBox 2"/>
          <p:cNvSpPr txBox="1"/>
          <p:nvPr/>
        </p:nvSpPr>
        <p:spPr>
          <a:xfrm>
            <a:off x="457200" y="1463040"/>
            <a:ext cx="6858000" cy="4754880"/>
          </a:xfrm>
          <a:prstGeom prst="rect">
            <a:avLst/>
          </a:prstGeom>
          <a:noFill/>
        </p:spPr>
        <p:txBody>
          <a:bodyPr wrap="square">
            <a:spAutoFit/>
          </a:bodyPr>
          <a:lstStyle/>
          <a:p>
            <a:pPr>
              <a:spcAft>
                <a:spcPts val="1500"/>
              </a:spcAft>
            </a:pPr>
            <a:r>
              <a:rPr b="1" sz="2000">
                <a:solidFill>
                  <a:srgbClr val="003366"/>
                </a:solidFill>
                <a:latin typeface="Calibri"/>
              </a:rPr>
              <a:t>• Step 1: </a:t>
            </a:r>
            <a:r>
              <a:rPr sz="2000">
                <a:solidFill>
                  <a:srgbClr val="404040"/>
                </a:solidFill>
                <a:latin typeface="Calibri"/>
              </a:rPr>
              <a:t>扫描全图，发现宏观结合与代谢趋势。</a:t>
            </a:r>
          </a:p>
          <a:p>
            <a:pPr>
              <a:spcAft>
                <a:spcPts val="1500"/>
              </a:spcAft>
            </a:pPr>
            <a:r>
              <a:rPr b="1" sz="2000">
                <a:solidFill>
                  <a:srgbClr val="003366"/>
                </a:solidFill>
                <a:latin typeface="Calibri"/>
              </a:rPr>
              <a:t>• Step 2: </a:t>
            </a:r>
            <a:r>
              <a:rPr sz="2000">
                <a:solidFill>
                  <a:srgbClr val="404040"/>
                </a:solidFill>
                <a:latin typeface="Calibri"/>
              </a:rPr>
              <a:t>微观下钻 (Micro-drilling)，基于低 BDE 定位代谢易感位点 (SoM)。</a:t>
            </a:r>
          </a:p>
          <a:p>
            <a:pPr>
              <a:spcAft>
                <a:spcPts val="1500"/>
              </a:spcAft>
            </a:pPr>
            <a:r>
              <a:rPr b="1" sz="2000">
                <a:solidFill>
                  <a:srgbClr val="003366"/>
                </a:solidFill>
                <a:latin typeface="Calibri"/>
              </a:rPr>
              <a:t>• Step 3: 触发反合成，携带精确的图谱约束（例如：</a:t>
            </a:r>
            <a:r>
              <a:rPr sz="2000">
                <a:solidFill>
                  <a:srgbClr val="404040"/>
                </a:solidFill>
                <a:latin typeface="Calibri"/>
              </a:rPr>
              <a:t>保持骨架不变，提高C-4位置的BDE &gt; 100 kcal/mol）。</a:t>
            </a:r>
          </a:p>
          <a:p>
            <a:pPr>
              <a:spcAft>
                <a:spcPts val="1500"/>
              </a:spcAft>
            </a:pPr>
            <a:r>
              <a:rPr b="1" sz="2000">
                <a:solidFill>
                  <a:srgbClr val="003366"/>
                </a:solidFill>
                <a:latin typeface="Calibri"/>
              </a:rPr>
              <a:t>• Step 4: </a:t>
            </a:r>
            <a:r>
              <a:rPr sz="2000">
                <a:solidFill>
                  <a:srgbClr val="404040"/>
                </a:solidFill>
                <a:latin typeface="Calibri"/>
              </a:rPr>
              <a:t>虚拟实验室验证与记忆 (Memory) 更新。</a:t>
            </a:r>
          </a:p>
        </p:txBody>
      </p:sp>
      <p:sp>
        <p:nvSpPr>
          <p:cNvPr id="4" name="Rounded Rectangle 3"/>
          <p:cNvSpPr/>
          <p:nvPr/>
        </p:nvSpPr>
        <p:spPr>
          <a:xfrm>
            <a:off x="7772400" y="1463040"/>
            <a:ext cx="3959352" cy="4754880"/>
          </a:xfrm>
          <a:prstGeom prst="roundRect">
            <a:avLst/>
          </a:prstGeom>
          <a:solidFill>
            <a:srgbClr val="F0F8FF"/>
          </a:solidFill>
          <a:ln w="25400">
            <a:solidFill>
              <a:srgbClr val="0099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800">
                <a:solidFill>
                  <a:srgbClr val="009999"/>
                </a:solidFill>
              </a:rPr>
              <a:t>📷 Image Suggestion
</a:t>
            </a:r>
          </a:p>
          <a:p>
            <a:pPr algn="ctr">
              <a:spcBef>
                <a:spcPts val="1000"/>
              </a:spcBef>
            </a:pPr>
            <a:r>
              <a:rPr sz="1400">
                <a:solidFill>
                  <a:srgbClr val="404040"/>
                </a:solidFill>
              </a:rPr>
              <a:t>围绕中心EKG的顺时针决策闭环图（Layer 2 &amp; Layer 3融合），突出显示步骤之间的信息流转。</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365760"/>
            <a:ext cx="11274552" cy="914400"/>
          </a:xfrm>
        </p:spPr>
        <p:txBody>
          <a:bodyPr/>
          <a:lstStyle/>
          <a:p>
            <a:r>
              <a:rPr b="1" sz="3200">
                <a:solidFill>
                  <a:srgbClr val="003366"/>
                </a:solidFill>
              </a:rPr>
              <a:t>从发现负债到智能重构的完整轨迹</a:t>
            </a:r>
          </a:p>
        </p:txBody>
      </p:sp>
      <p:sp>
        <p:nvSpPr>
          <p:cNvPr id="3" name="TextBox 2"/>
          <p:cNvSpPr txBox="1"/>
          <p:nvPr/>
        </p:nvSpPr>
        <p:spPr>
          <a:xfrm>
            <a:off x="457200" y="1463040"/>
            <a:ext cx="6858000" cy="4754880"/>
          </a:xfrm>
          <a:prstGeom prst="rect">
            <a:avLst/>
          </a:prstGeom>
          <a:noFill/>
        </p:spPr>
        <p:txBody>
          <a:bodyPr wrap="square">
            <a:spAutoFit/>
          </a:bodyPr>
          <a:lstStyle/>
          <a:p>
            <a:pPr>
              <a:spcAft>
                <a:spcPts val="1500"/>
              </a:spcAft>
            </a:pPr>
            <a:r>
              <a:rPr b="1" sz="2000">
                <a:solidFill>
                  <a:srgbClr val="003366"/>
                </a:solidFill>
                <a:latin typeface="Calibri"/>
              </a:rPr>
              <a:t>• 场景：</a:t>
            </a:r>
            <a:r>
              <a:rPr sz="2000">
                <a:solidFill>
                  <a:srgbClr val="404040"/>
                </a:solidFill>
                <a:latin typeface="Calibri"/>
              </a:rPr>
              <a:t>初始候选分子具有极佳的亲和力，但被CYP3A4快速清除。</a:t>
            </a:r>
          </a:p>
          <a:p>
            <a:pPr>
              <a:spcAft>
                <a:spcPts val="1500"/>
              </a:spcAft>
            </a:pPr>
            <a:r>
              <a:rPr b="1" sz="2000">
                <a:solidFill>
                  <a:srgbClr val="003366"/>
                </a:solidFill>
                <a:latin typeface="Calibri"/>
              </a:rPr>
              <a:t>• Agent 推理轨迹：</a:t>
            </a:r>
            <a:r>
              <a:rPr sz="2000">
                <a:solidFill>
                  <a:srgbClr val="404040"/>
                </a:solidFill>
                <a:latin typeface="Calibri"/>
              </a:rPr>
              <a:t>识别高风险代谢边 -&gt; 锁定低 BDE 的 C-H 键 -&gt; 规划合成路径。</a:t>
            </a:r>
          </a:p>
          <a:p>
            <a:pPr>
              <a:spcAft>
                <a:spcPts val="1500"/>
              </a:spcAft>
            </a:pPr>
            <a:r>
              <a:rPr b="1" sz="2000">
                <a:solidFill>
                  <a:srgbClr val="003366"/>
                </a:solidFill>
                <a:latin typeface="Calibri"/>
              </a:rPr>
              <a:t>• 解决策略：</a:t>
            </a:r>
            <a:r>
              <a:rPr sz="2000">
                <a:solidFill>
                  <a:srgbClr val="404040"/>
                </a:solidFill>
                <a:latin typeface="Calibri"/>
              </a:rPr>
              <a:t>生物电子等排体替换（如引入氟原子，增加 C-F 键解离能）。</a:t>
            </a:r>
          </a:p>
          <a:p>
            <a:pPr>
              <a:spcAft>
                <a:spcPts val="1500"/>
              </a:spcAft>
            </a:pPr>
            <a:r>
              <a:rPr b="1" sz="2000">
                <a:solidFill>
                  <a:srgbClr val="003366"/>
                </a:solidFill>
                <a:latin typeface="Calibri"/>
              </a:rPr>
              <a:t>• 结果：</a:t>
            </a:r>
            <a:r>
              <a:rPr sz="2000">
                <a:solidFill>
                  <a:srgbClr val="404040"/>
                </a:solidFill>
                <a:latin typeface="Calibri"/>
              </a:rPr>
              <a:t>成功消除了代谢负债，同时在EKG上保持了 ΔG_bind 的稳定。</a:t>
            </a:r>
          </a:p>
        </p:txBody>
      </p:sp>
      <p:sp>
        <p:nvSpPr>
          <p:cNvPr id="4" name="Rounded Rectangle 3"/>
          <p:cNvSpPr/>
          <p:nvPr/>
        </p:nvSpPr>
        <p:spPr>
          <a:xfrm>
            <a:off x="7772400" y="1463040"/>
            <a:ext cx="3959352" cy="4754880"/>
          </a:xfrm>
          <a:prstGeom prst="roundRect">
            <a:avLst/>
          </a:prstGeom>
          <a:solidFill>
            <a:srgbClr val="F0F8FF"/>
          </a:solidFill>
          <a:ln w="25400">
            <a:solidFill>
              <a:srgbClr val="0099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800">
                <a:solidFill>
                  <a:srgbClr val="009999"/>
                </a:solidFill>
              </a:rPr>
              <a:t>📷 Image Suggestion
</a:t>
            </a:r>
          </a:p>
          <a:p>
            <a:pPr algn="ctr">
              <a:spcBef>
                <a:spcPts val="1000"/>
              </a:spcBef>
            </a:pPr>
            <a:r>
              <a:rPr sz="1400">
                <a:solidFill>
                  <a:srgbClr val="404040"/>
                </a:solidFill>
              </a:rPr>
              <a:t>真实的化学分子演化路径图，标出脆弱的C-H键及其BDE数值，箭头指向替换后的C-F键及新的能量数值，旁边附带Agent的思考Log片段。</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365760"/>
            <a:ext cx="11274552" cy="914400"/>
          </a:xfrm>
        </p:spPr>
        <p:txBody>
          <a:bodyPr/>
          <a:lstStyle/>
          <a:p>
            <a:r>
              <a:rPr b="1" sz="3200">
                <a:solidFill>
                  <a:srgbClr val="003366"/>
                </a:solidFill>
              </a:rPr>
              <a:t>性能评估与帕累托前沿寻优</a:t>
            </a:r>
          </a:p>
        </p:txBody>
      </p:sp>
      <p:sp>
        <p:nvSpPr>
          <p:cNvPr id="3" name="TextBox 2"/>
          <p:cNvSpPr txBox="1"/>
          <p:nvPr/>
        </p:nvSpPr>
        <p:spPr>
          <a:xfrm>
            <a:off x="457200" y="1463040"/>
            <a:ext cx="6858000" cy="4754880"/>
          </a:xfrm>
          <a:prstGeom prst="rect">
            <a:avLst/>
          </a:prstGeom>
          <a:noFill/>
        </p:spPr>
        <p:txBody>
          <a:bodyPr wrap="square">
            <a:spAutoFit/>
          </a:bodyPr>
          <a:lstStyle/>
          <a:p>
            <a:pPr>
              <a:spcAft>
                <a:spcPts val="1500"/>
              </a:spcAft>
            </a:pPr>
            <a:r>
              <a:rPr b="1" sz="2000">
                <a:solidFill>
                  <a:srgbClr val="003366"/>
                </a:solidFill>
                <a:latin typeface="Calibri"/>
              </a:rPr>
              <a:t>• 基准测试：</a:t>
            </a:r>
            <a:r>
              <a:rPr sz="2000">
                <a:solidFill>
                  <a:srgbClr val="404040"/>
                </a:solidFill>
                <a:latin typeface="Calibri"/>
              </a:rPr>
              <a:t>涵盖激酶抑制剂与PROTAC等复杂分子的多目标优化。</a:t>
            </a:r>
          </a:p>
          <a:p>
            <a:pPr>
              <a:spcAft>
                <a:spcPts val="1500"/>
              </a:spcAft>
            </a:pPr>
            <a:r>
              <a:rPr b="1" sz="2000">
                <a:solidFill>
                  <a:srgbClr val="003366"/>
                </a:solidFill>
                <a:latin typeface="Calibri"/>
              </a:rPr>
              <a:t>• 对比对象：</a:t>
            </a:r>
            <a:r>
              <a:rPr sz="2000">
                <a:solidFill>
                  <a:srgbClr val="404040"/>
                </a:solidFill>
                <a:latin typeface="Calibri"/>
              </a:rPr>
              <a:t>传统的无记忆 LLM Agent 与基于纯文本的 Agent (如 ChemCrow 变体)。</a:t>
            </a:r>
          </a:p>
          <a:p>
            <a:pPr>
              <a:spcAft>
                <a:spcPts val="1500"/>
              </a:spcAft>
            </a:pPr>
            <a:r>
              <a:rPr b="1" sz="2000">
                <a:solidFill>
                  <a:srgbClr val="003366"/>
                </a:solidFill>
                <a:latin typeface="Calibri"/>
              </a:rPr>
              <a:t>• 关键指标：</a:t>
            </a:r>
            <a:r>
              <a:rPr sz="2000">
                <a:solidFill>
                  <a:srgbClr val="404040"/>
                </a:solidFill>
                <a:latin typeface="Calibri"/>
              </a:rPr>
              <a:t>多目标成功率 (Success Rate), 帕累托最优解数量。</a:t>
            </a:r>
          </a:p>
          <a:p>
            <a:pPr>
              <a:spcAft>
                <a:spcPts val="1500"/>
              </a:spcAft>
            </a:pPr>
            <a:r>
              <a:rPr b="1" sz="2000">
                <a:solidFill>
                  <a:srgbClr val="003366"/>
                </a:solidFill>
                <a:latin typeface="Calibri"/>
              </a:rPr>
              <a:t>• 结果：</a:t>
            </a:r>
            <a:r>
              <a:rPr sz="2000">
                <a:solidFill>
                  <a:srgbClr val="404040"/>
                </a:solidFill>
                <a:latin typeface="Calibri"/>
              </a:rPr>
              <a:t>EKG架构大幅减少了“幻觉”，在复杂约束下展现出更快的收敛速度和更高的合成可及性。</a:t>
            </a:r>
          </a:p>
        </p:txBody>
      </p:sp>
      <p:sp>
        <p:nvSpPr>
          <p:cNvPr id="4" name="Rounded Rectangle 3"/>
          <p:cNvSpPr/>
          <p:nvPr/>
        </p:nvSpPr>
        <p:spPr>
          <a:xfrm>
            <a:off x="7772400" y="1463040"/>
            <a:ext cx="3959352" cy="4754880"/>
          </a:xfrm>
          <a:prstGeom prst="roundRect">
            <a:avLst/>
          </a:prstGeom>
          <a:solidFill>
            <a:srgbClr val="F0F8FF"/>
          </a:solidFill>
          <a:ln w="25400">
            <a:solidFill>
              <a:srgbClr val="0099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800">
                <a:solidFill>
                  <a:srgbClr val="009999"/>
                </a:solidFill>
              </a:rPr>
              <a:t>📷 Image Suggestion
</a:t>
            </a:r>
          </a:p>
          <a:p>
            <a:pPr algn="ctr">
              <a:spcBef>
                <a:spcPts val="1000"/>
              </a:spcBef>
            </a:pPr>
            <a:r>
              <a:rPr sz="1400">
                <a:solidFill>
                  <a:srgbClr val="404040"/>
                </a:solidFill>
              </a:rPr>
              <a:t>散点图或帕累托前沿曲线图，X轴为代谢稳定性得分，Y轴为靶点亲和力得分，不同颜色代表不同Agent的表现，突出EKG系统位于右上角区域。</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365760"/>
            <a:ext cx="11274552" cy="914400"/>
          </a:xfrm>
        </p:spPr>
        <p:txBody>
          <a:bodyPr/>
          <a:lstStyle/>
          <a:p>
            <a:r>
              <a:rPr b="1" sz="3200">
                <a:solidFill>
                  <a:srgbClr val="003366"/>
                </a:solidFill>
              </a:rPr>
              <a:t>开启下一代物理感知的AI制药</a:t>
            </a:r>
          </a:p>
        </p:txBody>
      </p:sp>
      <p:sp>
        <p:nvSpPr>
          <p:cNvPr id="3" name="TextBox 2"/>
          <p:cNvSpPr txBox="1"/>
          <p:nvPr/>
        </p:nvSpPr>
        <p:spPr>
          <a:xfrm>
            <a:off x="457200" y="1463040"/>
            <a:ext cx="6858000" cy="4754880"/>
          </a:xfrm>
          <a:prstGeom prst="rect">
            <a:avLst/>
          </a:prstGeom>
          <a:noFill/>
        </p:spPr>
        <p:txBody>
          <a:bodyPr wrap="square">
            <a:spAutoFit/>
          </a:bodyPr>
          <a:lstStyle/>
          <a:p>
            <a:pPr>
              <a:spcAft>
                <a:spcPts val="1500"/>
              </a:spcAft>
            </a:pPr>
            <a:r>
              <a:rPr b="1" sz="2000">
                <a:solidFill>
                  <a:srgbClr val="003366"/>
                </a:solidFill>
                <a:latin typeface="Calibri"/>
              </a:rPr>
              <a:t>• 核心结论：</a:t>
            </a:r>
            <a:r>
              <a:rPr sz="2000">
                <a:solidFill>
                  <a:srgbClr val="404040"/>
                </a:solidFill>
                <a:latin typeface="Calibri"/>
              </a:rPr>
              <a:t>EKG成功将热力学原理嵌入到多智能体系统的认知架构中，实现了Binding, Metabolism和Retrosynthesis的统一。</a:t>
            </a:r>
          </a:p>
          <a:p>
            <a:pPr>
              <a:spcAft>
                <a:spcPts val="1500"/>
              </a:spcAft>
            </a:pPr>
            <a:r>
              <a:rPr b="1" sz="2000">
                <a:solidFill>
                  <a:srgbClr val="003366"/>
                </a:solidFill>
                <a:latin typeface="Calibri"/>
              </a:rPr>
              <a:t>• 技术意义：</a:t>
            </a:r>
            <a:r>
              <a:rPr sz="2000">
                <a:solidFill>
                  <a:srgbClr val="404040"/>
                </a:solidFill>
                <a:latin typeface="Calibri"/>
              </a:rPr>
              <a:t>展示了“混合表征 (Hybrid Representation)” 在处理复杂科学推理中的巨大潜力。</a:t>
            </a:r>
          </a:p>
          <a:p>
            <a:pPr>
              <a:spcAft>
                <a:spcPts val="1500"/>
              </a:spcAft>
            </a:pPr>
            <a:r>
              <a:rPr b="1" sz="2000">
                <a:solidFill>
                  <a:srgbClr val="003366"/>
                </a:solidFill>
                <a:latin typeface="Calibri"/>
              </a:rPr>
              <a:t>• 未来展望：</a:t>
            </a:r>
            <a:r>
              <a:rPr sz="2000">
                <a:solidFill>
                  <a:srgbClr val="404040"/>
                </a:solidFill>
                <a:latin typeface="Calibri"/>
              </a:rPr>
              <a:t>将溶解度、拓扑极性表面积 (TPSA) 等更多物理维度以能量边或规则节点的形式融入图谱；拓展至更广泛的材料科学领域。</a:t>
            </a:r>
          </a:p>
        </p:txBody>
      </p:sp>
      <p:sp>
        <p:nvSpPr>
          <p:cNvPr id="4" name="Rounded Rectangle 3"/>
          <p:cNvSpPr/>
          <p:nvPr/>
        </p:nvSpPr>
        <p:spPr>
          <a:xfrm>
            <a:off x="7772400" y="1463040"/>
            <a:ext cx="3959352" cy="4754880"/>
          </a:xfrm>
          <a:prstGeom prst="roundRect">
            <a:avLst/>
          </a:prstGeom>
          <a:solidFill>
            <a:srgbClr val="F0F8FF"/>
          </a:solidFill>
          <a:ln w="25400">
            <a:solidFill>
              <a:srgbClr val="0099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800">
                <a:solidFill>
                  <a:srgbClr val="009999"/>
                </a:solidFill>
              </a:rPr>
              <a:t>📷 Image Suggestion
</a:t>
            </a:r>
          </a:p>
          <a:p>
            <a:pPr algn="ctr">
              <a:spcBef>
                <a:spcPts val="1000"/>
              </a:spcBef>
            </a:pPr>
            <a:r>
              <a:rPr sz="1400">
                <a:solidFill>
                  <a:srgbClr val="404040"/>
                </a:solidFill>
              </a:rPr>
              <a:t>一张富有科技感的宏观视觉图，暗示系统从单一药物设计迈向更广阔的通用分子生成与发现领域。</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